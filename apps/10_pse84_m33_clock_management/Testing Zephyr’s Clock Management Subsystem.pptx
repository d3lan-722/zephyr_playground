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heme/theme2.xml" ContentType="application/vnd.openxmlformats-officedocument.them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heme/theme3.xml" ContentType="application/vnd.openxmlformats-officedocument.them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5"/>
  </p:sldMasterIdLst>
  <p:notesMasterIdLst>
    <p:notesMasterId r:id="rId17"/>
  </p:notesMasterIdLst>
  <p:handoutMasterIdLst>
    <p:handoutMasterId r:id="rId18"/>
  </p:handoutMasterIdLst>
  <p:sldIdLst>
    <p:sldId id="267" r:id="rId6"/>
    <p:sldId id="258" r:id="rId7"/>
    <p:sldId id="259" r:id="rId8"/>
    <p:sldId id="268" r:id="rId9"/>
    <p:sldId id="273" r:id="rId10"/>
    <p:sldId id="272" r:id="rId11"/>
    <p:sldId id="269" r:id="rId12"/>
    <p:sldId id="274" r:id="rId13"/>
    <p:sldId id="276" r:id="rId14"/>
    <p:sldId id="277" r:id="rId15"/>
    <p:sldId id="257" r:id="rId16"/>
  </p:sldIdLst>
  <p:sldSz cx="12192000" cy="6858000"/>
  <p:notesSz cx="7099300" cy="10234613"/>
  <p:custDataLst>
    <p:tags r:id="rId1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96" autoAdjust="0"/>
  </p:normalViewPr>
  <p:slideViewPr>
    <p:cSldViewPr snapToObjects="1" showGuides="1">
      <p:cViewPr>
        <p:scale>
          <a:sx n="96" d="100"/>
          <a:sy n="96" d="100"/>
        </p:scale>
        <p:origin x="1038" y="76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5.png"/><Relationship Id="rId2" Type="http://schemas.openxmlformats.org/officeDocument/2006/relationships/tags" Target="../tags/tag204.xml"/><Relationship Id="rId1" Type="http://schemas.openxmlformats.org/officeDocument/2006/relationships/theme" Target="../theme/theme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2023.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18 Mrz 2023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12" Type="http://schemas.openxmlformats.org/officeDocument/2006/relationships/image" Target="../media/image5.png"/><Relationship Id="rId2" Type="http://schemas.openxmlformats.org/officeDocument/2006/relationships/tags" Target="../tags/tag194.xml"/><Relationship Id="rId1" Type="http://schemas.openxmlformats.org/officeDocument/2006/relationships/theme" Target="../theme/theme2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5" Type="http://schemas.openxmlformats.org/officeDocument/2006/relationships/tags" Target="../tags/tag197.xml"/><Relationship Id="rId10" Type="http://schemas.openxmlformats.org/officeDocument/2006/relationships/tags" Target="../tags/tag202.xml"/><Relationship Id="rId4" Type="http://schemas.openxmlformats.org/officeDocument/2006/relationships/tags" Target="../tags/tag196.xml"/><Relationship Id="rId9" Type="http://schemas.openxmlformats.org/officeDocument/2006/relationships/tags" Target="../tags/tag20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2023.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18 Mrz 2023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2.jp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jpg"/><Relationship Id="rId5" Type="http://schemas.openxmlformats.org/officeDocument/2006/relationships/tags" Target="../tags/tag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7" Type="http://schemas.openxmlformats.org/officeDocument/2006/relationships/image" Target="../media/image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hd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589B28-D26E-44F4-8C62-FEE4AAED4A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FB27639-D1FE-4EB7-81D0-019FC186F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Dylan Arturo Velasco Pinilla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FB1C68C-D054-4F8D-AA7A-F778CCFFF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Testing Zephyr’s Clock Management Subsystem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FF28-0883-405B-A8DD-D42393A2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70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9A08-B983-492B-BF60-186DB105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16632"/>
            <a:ext cx="9613068" cy="720000"/>
          </a:xfrm>
        </p:spPr>
        <p:txBody>
          <a:bodyPr/>
          <a:lstStyle/>
          <a:p>
            <a:r>
              <a:rPr lang="en-US" dirty="0"/>
              <a:t>Testing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771DF-7A8D-46F1-71A7-B7E7CF0153D9}"/>
              </a:ext>
            </a:extLst>
          </p:cNvPr>
          <p:cNvSpPr txBox="1"/>
          <p:nvPr/>
        </p:nvSpPr>
        <p:spPr bwMode="auto">
          <a:xfrm>
            <a:off x="983432" y="1124744"/>
            <a:ext cx="9505056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/>
              <a:t>Two complementary test configurations:</a:t>
            </a:r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r>
              <a:rPr lang="de-DE" b="1" dirty="0"/>
              <a:t>Test procedure:</a:t>
            </a:r>
            <a:r>
              <a:rPr lang="de-DE" dirty="0"/>
              <a:t> Establish a known default configuration → perform one clock defined operation → check the API result and affected output rates → restore the setup for the next test.</a:t>
            </a:r>
          </a:p>
          <a:p>
            <a:pPr>
              <a:buNone/>
            </a:pPr>
            <a:endParaRPr lang="de-DE" b="1" dirty="0"/>
          </a:p>
          <a:p>
            <a:pPr>
              <a:buNone/>
            </a:pPr>
            <a:r>
              <a:rPr lang="de-DE" dirty="0"/>
              <a:t>Static tests validate </a:t>
            </a:r>
            <a:r>
              <a:rPr lang="de-DE" i="1" dirty="0"/>
              <a:t>predefined configurations</a:t>
            </a:r>
            <a:r>
              <a:rPr lang="de-DE" dirty="0"/>
              <a:t>; dynamic tests validate </a:t>
            </a:r>
            <a:r>
              <a:rPr lang="de-DE" i="1" dirty="0"/>
              <a:t>how the subsystem coordinates changes at runtime</a:t>
            </a:r>
            <a:r>
              <a:rPr lang="de-DE" dirty="0"/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6461D9-D2A1-7F22-AB3D-172B20A98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851320"/>
              </p:ext>
            </p:extLst>
          </p:nvPr>
        </p:nvGraphicFramePr>
        <p:xfrm>
          <a:off x="1559496" y="1628800"/>
          <a:ext cx="8128000" cy="2148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60789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4437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Dinamic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84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Runtime features disabled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RUNTIME</a:t>
                      </a:r>
                      <a:r>
                        <a:rPr lang="de-DE" sz="1400" dirty="0">
                          <a:latin typeface="+mj-lt"/>
                        </a:rPr>
                        <a:t> and </a:t>
                      </a: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SET_RATE</a:t>
                      </a:r>
                      <a:r>
                        <a:rPr lang="de-DE" sz="1400" dirty="0">
                          <a:latin typeface="+mj-lt"/>
                        </a:rPr>
                        <a:t> enabled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47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Apply devicetree-defined clock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Change requests from multiple consumers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8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Verify transitions and resulting output frequencies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Verify state voting, conflicts, and rank-based selection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112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Check that each configured path produces the expected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Verify locking and requested-rate selection</a:t>
                      </a:r>
                    </a:p>
                    <a:p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297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29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42A3-3E18-4302-85FC-39EF0216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Clock Tree Under Test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35830-38C5-ADFD-9576-1288B5918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52" y="948025"/>
            <a:ext cx="5571484" cy="57212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7E3351-1613-1CEE-A6E0-519BFFDC5784}"/>
              </a:ext>
            </a:extLst>
          </p:cNvPr>
          <p:cNvSpPr txBox="1"/>
          <p:nvPr/>
        </p:nvSpPr>
        <p:spPr bwMode="auto">
          <a:xfrm>
            <a:off x="821414" y="1484784"/>
            <a:ext cx="432048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Two consumers share HF11.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One also uses HF13. 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Both outputs can depend on common upstream producers. </a:t>
            </a:r>
          </a:p>
          <a:p>
            <a:endParaRPr lang="de-DE" dirty="0"/>
          </a:p>
          <a:p>
            <a:r>
              <a:rPr lang="de-DE" dirty="0"/>
              <a:t>This topology lets us test direct request conflicts and the effects of rate changes across separate outputs</a:t>
            </a:r>
          </a:p>
        </p:txBody>
      </p:sp>
    </p:spTree>
    <p:extLst>
      <p:ext uri="{BB962C8B-B14F-4D97-AF65-F5344CB8AC3E}">
        <p14:creationId xmlns:p14="http://schemas.microsoft.com/office/powerpoint/2010/main" val="162567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2E9-8C2B-B8FF-1C52-1EB9365D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2B9E-858C-C110-8015-198B38CD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Clock Output States Under Test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64127F-0C4E-9225-92B9-76EA3AA76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52328"/>
              </p:ext>
            </p:extLst>
          </p:nvPr>
        </p:nvGraphicFramePr>
        <p:xfrm>
          <a:off x="1913478" y="1916832"/>
          <a:ext cx="8128000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90234">
                  <a:extLst>
                    <a:ext uri="{9D8B030D-6E8A-4147-A177-3AD203B41FA5}">
                      <a16:colId xmlns:a16="http://schemas.microsoft.com/office/drawing/2014/main" val="119303422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244033186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712647664"/>
                    </a:ext>
                  </a:extLst>
                </a:gridCol>
                <a:gridCol w="2289294">
                  <a:extLst>
                    <a:ext uri="{9D8B030D-6E8A-4147-A177-3AD203B41FA5}">
                      <a16:colId xmlns:a16="http://schemas.microsoft.com/office/drawing/2014/main" val="2115647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Clock-Output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CLOCK –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OUTPUT FREQ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468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HF11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IHO → PLL LP1 → HF11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133.33 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214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HF11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IHO → PLL HP → HF11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450 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75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highlight>
                            <a:srgbClr val="FFFF00"/>
                          </a:highlight>
                        </a:rPr>
                        <a:t>HF11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highlight>
                            <a:srgbClr val="FFFF00"/>
                          </a:highlight>
                        </a:rP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cs typeface="+mn-cs"/>
                        </a:rPr>
                        <a:t>PILO → PATH MUX 3 → HF11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16.384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11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HF13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IHO → PLL HP → HF13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225 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697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highlight>
                            <a:srgbClr val="FFFF00"/>
                          </a:highlight>
                        </a:rPr>
                        <a:t>HF13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highlight>
                            <a:srgbClr val="FFFF00"/>
                          </a:highlight>
                        </a:rP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cs typeface="+mn-cs"/>
                        </a:rPr>
                        <a:t>PILO → PATH MUX 3 → HF13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32.768 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3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HF13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IHO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IHO → PATH MUX 3 → HF13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50 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97556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EF70915-B6AA-FA5D-AAB0-310D65370E94}"/>
              </a:ext>
            </a:extLst>
          </p:cNvPr>
          <p:cNvSpPr txBox="1"/>
          <p:nvPr/>
        </p:nvSpPr>
        <p:spPr bwMode="auto">
          <a:xfrm>
            <a:off x="1127448" y="1252607"/>
            <a:ext cx="60946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600" dirty="0"/>
              <a:t>Devicetree-defined paths and expected output frequencies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D047A5-BD5D-9292-82A1-CD2C552A265A}"/>
              </a:ext>
            </a:extLst>
          </p:cNvPr>
          <p:cNvSpPr txBox="1"/>
          <p:nvPr/>
        </p:nvSpPr>
        <p:spPr bwMode="auto">
          <a:xfrm>
            <a:off x="1271464" y="4869160"/>
            <a:ext cx="90730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600" dirty="0"/>
              <a:t>These six states give us known clock paths and expected frequencies. They let us verify state transitions on each output and exercise dependencies through shared upstream producers.</a:t>
            </a:r>
          </a:p>
        </p:txBody>
      </p:sp>
    </p:spTree>
    <p:extLst>
      <p:ext uri="{BB962C8B-B14F-4D97-AF65-F5344CB8AC3E}">
        <p14:creationId xmlns:p14="http://schemas.microsoft.com/office/powerpoint/2010/main" val="253660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1E3BD-6CC7-7D71-B13D-2A86BBBC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D686-0FDF-73A9-5E32-84FBC75B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Consumer Clock Requests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3B6645-CDA8-9509-1284-F055A2EF4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078738"/>
              </p:ext>
            </p:extLst>
          </p:nvPr>
        </p:nvGraphicFramePr>
        <p:xfrm>
          <a:off x="1820428" y="1616302"/>
          <a:ext cx="8128000" cy="3708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90234">
                  <a:extLst>
                    <a:ext uri="{9D8B030D-6E8A-4147-A177-3AD203B41FA5}">
                      <a16:colId xmlns:a16="http://schemas.microsoft.com/office/drawing/2014/main" val="119303422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244033186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712647664"/>
                    </a:ext>
                  </a:extLst>
                </a:gridCol>
                <a:gridCol w="2289294">
                  <a:extLst>
                    <a:ext uri="{9D8B030D-6E8A-4147-A177-3AD203B41FA5}">
                      <a16:colId xmlns:a16="http://schemas.microsoft.com/office/drawing/2014/main" val="2115647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HF11 Allowed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HF13 Allowed States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468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Dummy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214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Dummy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Shared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75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Dummy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11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Dummy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IHO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—</a:t>
                      </a:r>
                      <a:endParaRPr kumimoji="0" lang="de-DE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D1D1D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IHO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697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Dummy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Default, Shared,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3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Dummy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97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Dummy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473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Dummy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652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Dummy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D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Fast, 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8034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B7E4CE7-4BBA-0446-5DCB-7EE2CD26147C}"/>
              </a:ext>
            </a:extLst>
          </p:cNvPr>
          <p:cNvSpPr txBox="1"/>
          <p:nvPr/>
        </p:nvSpPr>
        <p:spPr bwMode="auto">
          <a:xfrm>
            <a:off x="1271464" y="1093234"/>
            <a:ext cx="60946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600" dirty="0"/>
              <a:t>A request lists acceptable states for each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EDA4D-7DD1-632E-E647-C3333CFC79D7}"/>
              </a:ext>
            </a:extLst>
          </p:cNvPr>
          <p:cNvSpPr txBox="1"/>
          <p:nvPr/>
        </p:nvSpPr>
        <p:spPr bwMode="auto">
          <a:xfrm>
            <a:off x="1199456" y="5509216"/>
            <a:ext cx="9217024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b="1" dirty="0"/>
              <a:t>Compatible requests:</a:t>
            </a:r>
            <a:r>
              <a:rPr lang="de-DE" dirty="0"/>
              <a:t> Dummy 1 selects </a:t>
            </a:r>
            <a:r>
              <a:rPr lang="de-DE" b="1" dirty="0"/>
              <a:t>All</a:t>
            </a:r>
            <a:r>
              <a:rPr lang="de-DE" dirty="0"/>
              <a:t> and Dummy 2 selects </a:t>
            </a:r>
            <a:r>
              <a:rPr lang="de-DE" b="1" dirty="0"/>
              <a:t>Fast</a:t>
            </a:r>
            <a:r>
              <a:rPr lang="de-DE" dirty="0"/>
              <a:t>. Both allow </a:t>
            </a:r>
            <a:r>
              <a:rPr lang="de-DE" b="1" dirty="0"/>
              <a:t>Fast</a:t>
            </a:r>
            <a:r>
              <a:rPr lang="de-DE" dirty="0"/>
              <a:t> on HF11.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b="1" dirty="0"/>
              <a:t>Conflicting requests:</a:t>
            </a:r>
            <a:r>
              <a:rPr lang="de-DE" dirty="0"/>
              <a:t> Consumer 1 selects </a:t>
            </a:r>
            <a:r>
              <a:rPr lang="de-DE" b="1" dirty="0"/>
              <a:t>Default</a:t>
            </a:r>
            <a:r>
              <a:rPr lang="de-DE" dirty="0"/>
              <a:t> and Consumer 2 selects </a:t>
            </a:r>
            <a:r>
              <a:rPr lang="de-DE" b="1" dirty="0"/>
              <a:t>Fast</a:t>
            </a:r>
            <a:r>
              <a:rPr lang="de-DE" dirty="0"/>
              <a:t>. They have no common allowed state for HF11.</a:t>
            </a:r>
          </a:p>
        </p:txBody>
      </p:sp>
    </p:spTree>
    <p:extLst>
      <p:ext uri="{BB962C8B-B14F-4D97-AF65-F5344CB8AC3E}">
        <p14:creationId xmlns:p14="http://schemas.microsoft.com/office/powerpoint/2010/main" val="98282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C977-C073-89C6-ADA8-1DCAC8DB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8545-3176-A53D-8DB1-8336F1AA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Static Clock Configuration Tests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935EC6-7F44-BE2B-C450-051C09F7F9F9}"/>
              </a:ext>
            </a:extLst>
          </p:cNvPr>
          <p:cNvSpPr txBox="1"/>
          <p:nvPr/>
        </p:nvSpPr>
        <p:spPr bwMode="auto">
          <a:xfrm>
            <a:off x="1127448" y="1144742"/>
            <a:ext cx="92170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600" dirty="0"/>
              <a:t>Verify devicetree-defined clock states and output frequencies with runtime management disabled. A setup step requests the default state before each test.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4B44DE-7E3B-A6AF-0C3F-7DAE782A25CA}"/>
              </a:ext>
            </a:extLst>
          </p:cNvPr>
          <p:cNvSpPr txBox="1"/>
          <p:nvPr/>
        </p:nvSpPr>
        <p:spPr bwMode="auto">
          <a:xfrm>
            <a:off x="1271464" y="4717667"/>
            <a:ext cx="90730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de-DE" sz="1600" dirty="0"/>
              <a:t>These tests check </a:t>
            </a:r>
            <a:r>
              <a:rPr lang="de-DE" sz="1600" i="1" dirty="0"/>
              <a:t>state application, frequency reporting, on/off operations, and invalid-configuration handling</a:t>
            </a:r>
            <a:r>
              <a:rPr lang="de-DE" sz="1600" dirty="0"/>
              <a:t>. They do </a:t>
            </a:r>
            <a:r>
              <a:rPr lang="de-DE" sz="1600" b="1" dirty="0"/>
              <a:t>not</a:t>
            </a:r>
            <a:r>
              <a:rPr lang="de-DE" sz="1600" dirty="0"/>
              <a:t> test runtime voting, reference counting, or notifications.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756A2F-736A-848C-40C6-C0447DA9B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003319"/>
              </p:ext>
            </p:extLst>
          </p:nvPr>
        </p:nvGraphicFramePr>
        <p:xfrm>
          <a:off x="1271464" y="1988840"/>
          <a:ext cx="9073008" cy="23520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024336">
                  <a:extLst>
                    <a:ext uri="{9D8B030D-6E8A-4147-A177-3AD203B41FA5}">
                      <a16:colId xmlns:a16="http://schemas.microsoft.com/office/drawing/2014/main" val="256078978"/>
                    </a:ext>
                  </a:extLst>
                </a:gridCol>
                <a:gridCol w="6048672">
                  <a:extLst>
                    <a:ext uri="{9D8B030D-6E8A-4147-A177-3AD203B41FA5}">
                      <a16:colId xmlns:a16="http://schemas.microsoft.com/office/drawing/2014/main" val="244437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Test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What it verifies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84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Default state — HF11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Applies the default state and checks HF11’s expected frequency. Repeats the rate check while turning the output on and off, confirming the reported rate remains consistent in this setup.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47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Slow state — HF11 and HF13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Applies the slow request, checks HF11’s slow frequency, and confirms HF13 remains at its default frequency. Rechecks both outputs around on/off operations.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8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Invalid state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Requests a invalid configuration, a PLL with an input frequency too low to lock, and checks that the request returns an error.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112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90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E608-A046-3C1F-83C3-A5979B4B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0F41-7829-E344-22E3-68B26F23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Runtime State Requests and Shared Producers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F6569-717C-B68F-BE54-C4CFB6A98407}"/>
              </a:ext>
            </a:extLst>
          </p:cNvPr>
          <p:cNvSpPr txBox="1"/>
          <p:nvPr/>
        </p:nvSpPr>
        <p:spPr bwMode="auto">
          <a:xfrm>
            <a:off x="911424" y="1124744"/>
            <a:ext cx="961306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de-DE" b="1" dirty="0"/>
              <a:t>Test setup:</a:t>
            </a:r>
            <a:r>
              <a:rPr lang="de-DE" dirty="0"/>
              <a:t> Before each test, both consumers request their default states. Consumer 1 enables HF11 and HF13; Consumer 2 also enables HF11. This establishes known frequencies and </a:t>
            </a:r>
            <a:r>
              <a:rPr lang="de-DE" b="1" dirty="0"/>
              <a:t>usage counts</a:t>
            </a:r>
            <a:r>
              <a:rPr lang="de-DE" dirty="0"/>
              <a:t>. Cleanup balances the three enable operations.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83AEE72-F2B8-85E6-CA3E-89BEAB722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882112"/>
              </p:ext>
            </p:extLst>
          </p:nvPr>
        </p:nvGraphicFramePr>
        <p:xfrm>
          <a:off x="1302931" y="1958049"/>
          <a:ext cx="9073008" cy="3845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68252">
                  <a:extLst>
                    <a:ext uri="{9D8B030D-6E8A-4147-A177-3AD203B41FA5}">
                      <a16:colId xmlns:a16="http://schemas.microsoft.com/office/drawing/2014/main" val="256078978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1734189971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44437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Test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What it verifies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84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Default clock rates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Both consumers use their default requests.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HF11 reports its expected default rate through </a:t>
                      </a:r>
                      <a:r>
                        <a:rPr lang="de-DE" sz="1400" b="1" dirty="0"/>
                        <a:t>both consumers</a:t>
                      </a:r>
                      <a:r>
                        <a:rPr lang="de-DE" sz="1400" dirty="0"/>
                        <a:t>, while HF13 reports its own default rate. Consumers sharing HF11 observe the same output frequency.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47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Conflicting state requests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Consumer 1 requires </a:t>
                      </a:r>
                      <a:r>
                        <a:rPr lang="de-DE" sz="1400" b="1" dirty="0"/>
                        <a:t>Default</a:t>
                      </a:r>
                      <a:r>
                        <a:rPr lang="de-DE" sz="1400" dirty="0"/>
                        <a:t> on HF11; Consumer 2 requests </a:t>
                      </a:r>
                      <a:r>
                        <a:rPr lang="de-DE" sz="1400" b="1" dirty="0"/>
                        <a:t>Fast</a:t>
                      </a:r>
                      <a:r>
                        <a:rPr lang="de-DE" sz="1400" dirty="0"/>
                        <a:t>. 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With incompatible requests, HF11 </a:t>
                      </a:r>
                      <a:r>
                        <a:rPr lang="de-DE" sz="1400" b="1" dirty="0"/>
                        <a:t>remains at Default</a:t>
                      </a:r>
                      <a:r>
                        <a:rPr lang="de-DE" sz="1400" dirty="0"/>
                        <a:t> rather than switching to Fast. Once both requests agree on Fast, HF11 reports the Fast frequency. </a:t>
                      </a:r>
                      <a:r>
                        <a:rPr lang="de-DE" sz="1400" b="1" dirty="0"/>
                        <a:t>Known issue:</a:t>
                      </a:r>
                      <a:r>
                        <a:rPr lang="de-DE" sz="1400" dirty="0"/>
                        <a:t> the incompatible request currently returns success instead of reporting the conflict.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8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Shared producer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Both consumers move HF11 toward </a:t>
                      </a:r>
                      <a:r>
                        <a:rPr lang="de-DE" sz="1400" b="1" dirty="0"/>
                        <a:t>Shared</a:t>
                      </a:r>
                      <a:r>
                        <a:rPr lang="de-DE" sz="1400" dirty="0"/>
                        <a:t>. Consumer 1 then changes HF13 from </a:t>
                      </a:r>
                      <a:r>
                        <a:rPr lang="de-DE" sz="1400" b="1" dirty="0"/>
                        <a:t>Shared</a:t>
                      </a:r>
                      <a:r>
                        <a:rPr lang="de-DE" sz="1400" dirty="0"/>
                        <a:t> to </a:t>
                      </a:r>
                      <a:r>
                        <a:rPr lang="de-DE" sz="1400" b="1" dirty="0"/>
                        <a:t>IHO</a:t>
                      </a:r>
                      <a:r>
                        <a:rPr lang="de-DE" sz="1400" dirty="0"/>
                        <a:t>; both paths involve Path Mux 3.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HF13 can enter Shared while HF11 remains at Default because Consumer 2 still requires Default. Once Consumer 2 also requests Shared, HF11 changes to Shared. The final request to IHO shows a </a:t>
                      </a:r>
                      <a:r>
                        <a:rPr lang="de-DE" sz="1400" b="1" dirty="0"/>
                        <a:t>cross-output effect</a:t>
                      </a:r>
                      <a:r>
                        <a:rPr lang="de-DE" sz="1400" dirty="0"/>
                        <a:t>: changing Path Mux 3 for HF13 gives HF13 </a:t>
                      </a:r>
                      <a:r>
                        <a:rPr lang="de-DE" sz="1400" b="1" dirty="0"/>
                        <a:t>50 MHz</a:t>
                      </a:r>
                      <a:r>
                        <a:rPr lang="de-DE" sz="1400" dirty="0"/>
                        <a:t> and changes HF11 to </a:t>
                      </a:r>
                      <a:r>
                        <a:rPr lang="de-DE" sz="1400" b="1" dirty="0"/>
                        <a:t>25 MHz</a:t>
                      </a:r>
                      <a:r>
                        <a:rPr lang="de-DE" sz="1400" dirty="0"/>
                        <a:t>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112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74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C793F-5A44-E619-9815-A0B460140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D82F-B89D-D13C-CA7F-B69952F3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Runtime Rate, Gating, and Locking Tests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B944C8C-A402-9FC9-97FB-8DAE88A82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46392"/>
              </p:ext>
            </p:extLst>
          </p:nvPr>
        </p:nvGraphicFramePr>
        <p:xfrm>
          <a:off x="1302931" y="1484784"/>
          <a:ext cx="9073008" cy="3205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28773">
                  <a:extLst>
                    <a:ext uri="{9D8B030D-6E8A-4147-A177-3AD203B41FA5}">
                      <a16:colId xmlns:a16="http://schemas.microsoft.com/office/drawing/2014/main" val="256078978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1734189971"/>
                    </a:ext>
                  </a:extLst>
                </a:gridCol>
                <a:gridCol w="3559859">
                  <a:extLst>
                    <a:ext uri="{9D8B030D-6E8A-4147-A177-3AD203B41FA5}">
                      <a16:colId xmlns:a16="http://schemas.microsoft.com/office/drawing/2014/main" val="244437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Test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What it verifies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84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Runtime rate request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Consumer 1 requests </a:t>
                      </a:r>
                      <a:r>
                        <a:rPr lang="de-DE" sz="1400" b="1" dirty="0"/>
                        <a:t>100 MHz</a:t>
                      </a:r>
                      <a:r>
                        <a:rPr lang="de-DE" sz="1400" dirty="0"/>
                        <a:t> on HF13.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The rate-selection path returns </a:t>
                      </a:r>
                      <a:r>
                        <a:rPr lang="de-DE" sz="1400" b="1" dirty="0"/>
                        <a:t>99,999,998 Hz</a:t>
                      </a:r>
                      <a:r>
                        <a:rPr lang="de-DE" sz="1400" dirty="0"/>
                        <a:t> rather than the requested value. 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47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Clock gating and usage counts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Enable HF11 for both consumers and HF13 for Consumer 1. Disable HF11’s clock outputs one at a time, then switch both consumers to </a:t>
                      </a:r>
                      <a:r>
                        <a:rPr lang="de-DE" sz="1400" i="1" dirty="0"/>
                        <a:t>Fast</a:t>
                      </a:r>
                      <a:r>
                        <a:rPr lang="de-DE" sz="1400" dirty="0"/>
                        <a:t> and re-enable HF11.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Shared producers’ usage counts decrease as clock outputs are disabled. Changing a state alone does not increase usage counts; enabling the outputs does.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8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Clock locking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Consumer 1 locks HF11, then switches to a non-locking request. Consumer 2 takes ownership through a locking request, and Consumer 1 attempts another state change.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Only one consumer can own the lock. The non-locking request releases Consumer 1’s lock; Consumer 2’s lock causes Consumer 1’s subsequent request to be rejected.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112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580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B4D6-5403-FD41-5255-B2DCC401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426F-171B-D092-7936-F532C696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Runtime Rate, Gating, and Locking Tests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52E6B5E-F8AC-5749-29B2-57763A33ABD5}"/>
              </a:ext>
            </a:extLst>
          </p:cNvPr>
          <p:cNvGraphicFramePr>
            <a:graphicFrameLocks noGrp="1"/>
          </p:cNvGraphicFramePr>
          <p:nvPr/>
        </p:nvGraphicFramePr>
        <p:xfrm>
          <a:off x="1302931" y="1484784"/>
          <a:ext cx="9073008" cy="3205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28773">
                  <a:extLst>
                    <a:ext uri="{9D8B030D-6E8A-4147-A177-3AD203B41FA5}">
                      <a16:colId xmlns:a16="http://schemas.microsoft.com/office/drawing/2014/main" val="256078978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1734189971"/>
                    </a:ext>
                  </a:extLst>
                </a:gridCol>
                <a:gridCol w="3559859">
                  <a:extLst>
                    <a:ext uri="{9D8B030D-6E8A-4147-A177-3AD203B41FA5}">
                      <a16:colId xmlns:a16="http://schemas.microsoft.com/office/drawing/2014/main" val="244437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Test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+mj-lt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What it verifies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84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Runtime rate request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Consumer 1 requests </a:t>
                      </a:r>
                      <a:r>
                        <a:rPr lang="de-DE" sz="1400" b="1" dirty="0"/>
                        <a:t>100 MHz</a:t>
                      </a:r>
                      <a:r>
                        <a:rPr lang="de-DE" sz="1400" dirty="0"/>
                        <a:t> on HF13.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The rate-selection path returns </a:t>
                      </a:r>
                      <a:r>
                        <a:rPr lang="de-DE" sz="1400" b="1" dirty="0"/>
                        <a:t>99,999,998 Hz</a:t>
                      </a:r>
                      <a:r>
                        <a:rPr lang="de-DE" sz="1400" dirty="0"/>
                        <a:t> rather than the requested value. 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47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Clock gating and usage counts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Enable HF11 for both consumers and HF13 for Consumer 1. Disable HF11’s clock outputs one at a time, then switch both consumers to </a:t>
                      </a:r>
                      <a:r>
                        <a:rPr lang="de-DE" sz="1400" i="1" dirty="0"/>
                        <a:t>Fast</a:t>
                      </a:r>
                      <a:r>
                        <a:rPr lang="de-DE" sz="1400" dirty="0"/>
                        <a:t> and re-enable HF11.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Shared producers’ usage counts decrease as clock outputs are disabled. Changing a state alone does not increase usage counts; enabling the outputs does.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83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Clock locking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Consumer 1 locks HF11, then switches to a non-locking request. Consumer 2 takes ownership through a locking request, and Consumer 1 attempts another state change.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Only one consumer can own the lock. The non-locking request releases Consumer 1’s lock; Consumer 2’s lock causes Consumer 1’s subsequent request to be rejected.</a:t>
                      </a:r>
                      <a:endParaRPr lang="de-DE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112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50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3FBFF-8D2A-B4CA-F183-47408609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A770-C970-5017-2E7E-EA06FA32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from Evaluating Clock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B13CB-48A9-4FAB-B8FC-8C7EDD48C8AE}"/>
              </a:ext>
            </a:extLst>
          </p:cNvPr>
          <p:cNvSpPr txBox="1"/>
          <p:nvPr/>
        </p:nvSpPr>
        <p:spPr bwMode="auto">
          <a:xfrm>
            <a:off x="1289466" y="1268760"/>
            <a:ext cx="9613068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/>
            <a:r>
              <a:rPr lang="de-DE" b="1" dirty="0"/>
              <a:t>1. Recursive validation: </a:t>
            </a:r>
            <a:r>
              <a:rPr lang="de-DE" dirty="0"/>
              <a:t>state changes require approval from every child → </a:t>
            </a:r>
            <a:r>
              <a:rPr lang="de-DE" b="1" dirty="0">
                <a:solidFill>
                  <a:srgbClr val="FF0000"/>
                </a:solidFill>
              </a:rPr>
              <a:t>runtime scales with clock tree size</a:t>
            </a:r>
            <a:r>
              <a:rPr lang="de-DE" dirty="0"/>
              <a:t>; three notification phases (query, pre, post).</a:t>
            </a:r>
          </a:p>
          <a:p>
            <a:pPr lvl="0"/>
            <a:endParaRPr lang="de-DE" dirty="0"/>
          </a:p>
          <a:p>
            <a:pPr lvl="0"/>
            <a:r>
              <a:rPr lang="de-DE" b="1" dirty="0"/>
              <a:t>2. Sequential producer reconfiguration: </a:t>
            </a:r>
            <a:r>
              <a:rPr lang="de-DE" dirty="0"/>
              <a:t>a failure mid-path leaves the </a:t>
            </a:r>
            <a:r>
              <a:rPr lang="de-DE" b="1" dirty="0">
                <a:solidFill>
                  <a:srgbClr val="FF0000"/>
                </a:solidFill>
              </a:rPr>
              <a:t>clock path partially configured </a:t>
            </a:r>
            <a:r>
              <a:rPr lang="de-DE" dirty="0"/>
              <a:t>at an undesired frequency.</a:t>
            </a:r>
          </a:p>
          <a:p>
            <a:pPr lvl="0"/>
            <a:endParaRPr lang="de-DE" dirty="0"/>
          </a:p>
          <a:p>
            <a:pPr lvl="0"/>
            <a:r>
              <a:rPr lang="de-DE" b="1" dirty="0"/>
              <a:t>3. Requested vs. achieved frequency: </a:t>
            </a:r>
            <a:r>
              <a:rPr lang="de-DE" dirty="0"/>
              <a:t>the best configuration is </a:t>
            </a:r>
            <a:r>
              <a:rPr lang="de-DE" b="1" dirty="0">
                <a:solidFill>
                  <a:srgbClr val="FF0000"/>
                </a:solidFill>
              </a:rPr>
              <a:t>hardware-dependent</a:t>
            </a:r>
            <a:r>
              <a:rPr lang="de-DE" dirty="0"/>
              <a:t> and can be far from the requested rate.</a:t>
            </a:r>
          </a:p>
          <a:p>
            <a:pPr lvl="0"/>
            <a:endParaRPr lang="de-DE" dirty="0"/>
          </a:p>
          <a:p>
            <a:pPr lvl="0"/>
            <a:r>
              <a:rPr lang="de-DE" b="1" dirty="0"/>
              <a:t>4. </a:t>
            </a:r>
            <a:r>
              <a:rPr lang="de-DE" dirty="0"/>
              <a:t>Shared clock paths </a:t>
            </a:r>
            <a:r>
              <a:rPr lang="de-DE" b="1" dirty="0">
                <a:solidFill>
                  <a:srgbClr val="FF0000"/>
                </a:solidFill>
              </a:rPr>
              <a:t>force consumers to implement callbacks </a:t>
            </a:r>
            <a:r>
              <a:rPr lang="de-DE" dirty="0"/>
              <a:t>in all three phases to survive rate changes.</a:t>
            </a:r>
          </a:p>
          <a:p>
            <a:pPr lvl="0"/>
            <a:endParaRPr lang="de-DE" dirty="0"/>
          </a:p>
          <a:p>
            <a:pPr lvl="0"/>
            <a:r>
              <a:rPr lang="de-DE" b="1" dirty="0"/>
              <a:t>5. Bug in request_state(): </a:t>
            </a:r>
            <a:r>
              <a:rPr lang="de-DE" dirty="0"/>
              <a:t>a losing vote (active requests &gt; vote count) </a:t>
            </a:r>
            <a:r>
              <a:rPr lang="de-DE" b="1" dirty="0">
                <a:solidFill>
                  <a:srgbClr val="FF0000"/>
                </a:solidFill>
              </a:rPr>
              <a:t>does not return an error </a:t>
            </a:r>
            <a:r>
              <a:rPr lang="de-DE" dirty="0"/>
              <a:t>as it should.</a:t>
            </a:r>
          </a:p>
          <a:p>
            <a:pPr lvl="0"/>
            <a:endParaRPr lang="de-DE" dirty="0"/>
          </a:p>
          <a:p>
            <a:pPr lvl="0"/>
            <a:r>
              <a:rPr lang="de-DE" b="1" dirty="0"/>
              <a:t>6. Driver-delegated robustness:</a:t>
            </a:r>
            <a:r>
              <a:rPr lang="de-DE" dirty="0"/>
              <a:t> </a:t>
            </a:r>
            <a:r>
              <a:rPr lang="de-DE" b="1" dirty="0">
                <a:solidFill>
                  <a:srgbClr val="00B050"/>
                </a:solidFill>
              </a:rPr>
              <a:t>Relies on robust drivers</a:t>
            </a:r>
            <a:r>
              <a:rPr lang="de-DE" dirty="0"/>
              <a:t>; callbacks act as a circuit breaker against harmful reconfigurations.</a:t>
            </a:r>
          </a:p>
          <a:p>
            <a:pPr lvl="0"/>
            <a:endParaRPr lang="de-DE" dirty="0"/>
          </a:p>
          <a:p>
            <a:pPr lvl="0"/>
            <a:r>
              <a:rPr lang="de-DE" b="1" dirty="0"/>
              <a:t>7. Reliable clock gating:</a:t>
            </a:r>
            <a:r>
              <a:rPr lang="de-DE" dirty="0"/>
              <a:t> Enables </a:t>
            </a:r>
            <a:r>
              <a:rPr lang="de-DE" b="1" dirty="0">
                <a:solidFill>
                  <a:srgbClr val="00B050"/>
                </a:solidFill>
              </a:rPr>
              <a:t>further power management optimization </a:t>
            </a:r>
            <a:r>
              <a:rPr lang="de-DE" dirty="0"/>
              <a:t>by effectively disabling unused clock paths.</a:t>
            </a:r>
          </a:p>
          <a:p>
            <a:pPr lvl="0"/>
            <a:endParaRPr lang="de-DE" dirty="0"/>
          </a:p>
          <a:p>
            <a:r>
              <a:rPr lang="de-DE" b="1" dirty="0"/>
              <a:t>8. </a:t>
            </a:r>
            <a:r>
              <a:rPr lang="de-DE" b="1" dirty="0">
                <a:solidFill>
                  <a:srgbClr val="00B050"/>
                </a:solidFill>
              </a:rPr>
              <a:t>Powerful abstraction: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/>
              <a:t>Manages and reconfigures complex clock trees by abstracting the configuration process.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371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135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0GBAEGmsRCrWeMKWDzcgcFAAAAAAADAAAAAAADAAAAAwADAAEA////////BAAAAAMAEAALVNGgrCHzak+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0GBAEGmsRCrWeMKWDzcgcDRGF0YQAbAAAABExpbmtlZFNoYXBlRGF0YQAFAAAAAAACTmFtZQAZAAAATGlua2VkU2hhcGVzRGF0YVByb3BlcnR5ABBWZXJzaW9uAAAAAAAJTGFzdFdyaXRlAEHvOgOCAQAAAAE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EMPOWER.INTEGRATIONS.LOCALMASTER" val="{&quot;path&quot;:null,&quot;elementId&quot;:&quot;f8120ca7-cceb-428f-a7d0-f20ce9397e1b&quot;,&quot;elementName&quot;:null,&quot;databaseId&quot;:&quot;FDE84254-54DB-49E3-9A0E-CDE72035D530&quot;,&quot;timeStamp&quot;:&quot;2023-05-13T07:12:22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HDS" val="True"/>
  <p:tag name="MIO_SKIPVERSION" val="01.01.0001 00:00:00"/>
  <p:tag name="MIO_EKGUID" val="f8120ca7-cceb-428f-a7d0-f20ce9397e1b"/>
  <p:tag name="MIO_UPDATE" val="True"/>
  <p:tag name="MIO_VERSION" val="13.05.2023 07:12:22"/>
  <p:tag name="MIO_DBID" val="FDE84254-54DB-49E3-9A0E-CDE72035D530"/>
  <p:tag name="MIO_LASTDOWNLOADED" val="26.07.2023 12:28:29.220"/>
  <p:tag name="MIO_OBJECTNAME" val="Infineon LCD 16:9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1E115DF3-41F0-4647-B0A5-8A317E6D094E}" vid="{137F0F39-D844-4AA9-B871-823A03F108D0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AAE9148B404486CBFDD74AD2AA0B" ma:contentTypeVersion="2" ma:contentTypeDescription="Create a new document." ma:contentTypeScope="" ma:versionID="a24cc1775e4f53b56bd6bf310015a115">
  <xsd:schema xmlns:xsd="http://www.w3.org/2001/XMLSchema" xmlns:xs="http://www.w3.org/2001/XMLSchema" xmlns:p="http://schemas.microsoft.com/office/2006/metadata/properties" xmlns:ns2="a709603d-609a-478b-a91d-3c5e984c0e79" xmlns:ns3="6ef45842-284e-44e4-b2db-1749e7948b44" targetNamespace="http://schemas.microsoft.com/office/2006/metadata/properties" ma:root="true" ma:fieldsID="f8923fe8aa0ace7ab58ef4ccc8b43a85" ns2:_="" ns3:_="">
    <xsd:import namespace="a709603d-609a-478b-a91d-3c5e984c0e79"/>
    <xsd:import namespace="6ef45842-284e-44e4-b2db-1749e7948b44"/>
    <xsd:element name="properties">
      <xsd:complexType>
        <xsd:sequence>
          <xsd:element name="documentManagement">
            <xsd:complexType>
              <xsd:all>
                <xsd:element ref="ns2:Ver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603d-609a-478b-a91d-3c5e984c0e79" elementFormDefault="qualified">
    <xsd:import namespace="http://schemas.microsoft.com/office/2006/documentManagement/types"/>
    <xsd:import namespace="http://schemas.microsoft.com/office/infopath/2007/PartnerControls"/>
    <xsd:element name="Ver" ma:index="8" nillable="true" ma:displayName="Ver" ma:default="0" ma:internalName="V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5842-284e-44e4-b2db-1749e7948b4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 xmlns="a709603d-609a-478b-a91d-3c5e984c0e79">0</Ver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2014AB-78C2-4F59-9D6E-9572E72F77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603d-609a-478b-a91d-3c5e984c0e79"/>
    <ds:schemaRef ds:uri="6ef45842-284e-44e4-b2db-1749e7948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144A13-A380-40B3-9980-61BD11F58D02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a709603d-609a-478b-a91d-3c5e984c0e79"/>
    <ds:schemaRef ds:uri="6ef45842-284e-44e4-b2db-1749e7948b44"/>
    <ds:schemaRef ds:uri="http://schemas.microsoft.com/office/infopath/2007/PartnerControls"/>
    <ds:schemaRef ds:uri="http://schemas.openxmlformats.org/package/2006/metadata/core-properties"/>
  </ds:schemaRefs>
</ds:datastoreItem>
</file>

<file path=customXml/itemProps4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1255</Words>
  <Application>Microsoft Office PowerPoint</Application>
  <PresentationFormat>Widescreen</PresentationFormat>
  <Paragraphs>180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Infineon 16:9</vt:lpstr>
      <vt:lpstr>Testing Zephyr’s Clock Management Subsystem</vt:lpstr>
      <vt:lpstr>Testing Strategy</vt:lpstr>
      <vt:lpstr>Clock Tree Under Test</vt:lpstr>
      <vt:lpstr>Clock Output States Under Test</vt:lpstr>
      <vt:lpstr>Consumer Clock Requests</vt:lpstr>
      <vt:lpstr>Static Clock Configuration Tests</vt:lpstr>
      <vt:lpstr>Runtime State Requests and Shared Producers</vt:lpstr>
      <vt:lpstr>Runtime Rate, Gating, and Locking Tests</vt:lpstr>
      <vt:lpstr>Runtime Rate, Gating, and Locking Tests</vt:lpstr>
      <vt:lpstr>Key Findings from Evaluating Clock Management</vt:lpstr>
      <vt:lpstr>PowerPoint Presentation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Velasco Pinilla Dylan Arturo (DES DOS SW ESW EPE)</dc:creator>
  <cp:lastModifiedBy>Velasco Pinilla Dylan Arturo (DES DOS SW ESW EPE)</cp:lastModifiedBy>
  <cp:revision>2</cp:revision>
  <dcterms:created xsi:type="dcterms:W3CDTF">2026-10-04T14:53:07Z</dcterms:created>
  <dcterms:modified xsi:type="dcterms:W3CDTF">2026-10-15T09:09:30Z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0x010100A655AAE9148B404486CBFDD74AD2AA0B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2023-03-18T12:11:36Z</vt:filetime>
  </property>
  <property fmtid="{D5CDD505-2E9C-101B-9397-08002B2CF9AE}" pid="15" name="empower.integration.Classification.DateFormat">
    <vt:lpwstr>d MMM yyyy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true</vt:lpwstr>
  </property>
  <property fmtid="{D5CDD505-2E9C-101B-9397-08002B2CF9AE}" pid="23" name="MSIP_Label_a15a25aa-e944-415d-b7a7-40f6b9180b6b_SetDate">
    <vt:lpwstr>2023-03-24T13:40:28Z</vt:lpwstr>
  </property>
  <property fmtid="{D5CDD505-2E9C-101B-9397-08002B2CF9AE}" pid="24" name="MSIP_Label_a15a25aa-e944-415d-b7a7-40f6b9180b6b_Method">
    <vt:lpwstr>Standard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73b1d637-b020-4fda-a205-ff5e02ff8705</vt:lpwstr>
  </property>
  <property fmtid="{D5CDD505-2E9C-101B-9397-08002B2CF9AE}" pid="28" name="MSIP_Label_a15a25aa-e944-415d-b7a7-40f6b9180b6b_ContentBits">
    <vt:lpwstr>0</vt:lpwstr>
  </property>
</Properties>
</file>